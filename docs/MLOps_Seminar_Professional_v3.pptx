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MLOps for Students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End-to-End Guide</a:t>
            </a:r>
          </a:p>
          <a:p/>
          <a:p>
            <a:r>
              <a:t>Learn how modern ML models move from notebooks to production.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What is MLOps?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MLOps combines Machine Learning, DevOps, and Data Engineering. It standardizes the entire ML lifecycle so models can be trained, deployed, monitored, and improved in a repeatable way.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560320"/>
            <a:ext cx="2734056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ML</a:t>
            </a:r>
          </a:p>
        </p:txBody>
      </p:sp>
      <p:sp>
        <p:nvSpPr>
          <p:cNvPr id="5" name="Chevron 4"/>
          <p:cNvSpPr/>
          <p:nvPr/>
        </p:nvSpPr>
        <p:spPr>
          <a:xfrm>
            <a:off x="3246120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10128" y="2560320"/>
            <a:ext cx="2734056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DevOps</a:t>
            </a:r>
          </a:p>
        </p:txBody>
      </p:sp>
      <p:sp>
        <p:nvSpPr>
          <p:cNvPr id="7" name="Chevron 6"/>
          <p:cNvSpPr/>
          <p:nvPr/>
        </p:nvSpPr>
        <p:spPr>
          <a:xfrm>
            <a:off x="6053327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17336" y="2560320"/>
            <a:ext cx="2734056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Data Eng.</a:t>
            </a:r>
          </a:p>
        </p:txBody>
      </p:sp>
      <p:sp>
        <p:nvSpPr>
          <p:cNvPr id="9" name="Chevron 8"/>
          <p:cNvSpPr/>
          <p:nvPr/>
        </p:nvSpPr>
        <p:spPr>
          <a:xfrm>
            <a:off x="8860536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4544" y="2560320"/>
            <a:ext cx="2734056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Automation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566160"/>
            <a:ext cx="10972800" cy="2011680"/>
          </a:xfrm>
          <a:prstGeom prst="round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100"/>
            </a:pPr>
            <a:r>
              <a:t>Key Points</a:t>
            </a:r>
          </a:p>
          <a:p>
            <a:pPr>
              <a:defRPr sz="1800"/>
            </a:pPr>
            <a:r>
              <a:t>• Automates the ML lifecycle</a:t>
            </a:r>
          </a:p>
          <a:p>
            <a:pPr>
              <a:defRPr sz="1800"/>
            </a:pPr>
            <a:r>
              <a:t>• Improves collaboration</a:t>
            </a:r>
          </a:p>
          <a:p>
            <a:pPr>
              <a:defRPr sz="1800"/>
            </a:pPr>
            <a:r>
              <a:t>• Makes deployments reproducible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Why MLOps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Traditional ML projects often fail during deployment. MLOps solves this by introducing version control, automation, testing, and continuous monitoring.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560320"/>
            <a:ext cx="3669791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Research</a:t>
            </a:r>
          </a:p>
        </p:txBody>
      </p:sp>
      <p:sp>
        <p:nvSpPr>
          <p:cNvPr id="5" name="Chevron 4"/>
          <p:cNvSpPr/>
          <p:nvPr/>
        </p:nvSpPr>
        <p:spPr>
          <a:xfrm>
            <a:off x="4181855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45863" y="2560320"/>
            <a:ext cx="3669791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Production</a:t>
            </a:r>
          </a:p>
        </p:txBody>
      </p:sp>
      <p:sp>
        <p:nvSpPr>
          <p:cNvPr id="7" name="Chevron 6"/>
          <p:cNvSpPr/>
          <p:nvPr/>
        </p:nvSpPr>
        <p:spPr>
          <a:xfrm>
            <a:off x="7924799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88807" y="2560320"/>
            <a:ext cx="3669791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Feedback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566160"/>
            <a:ext cx="10972800" cy="2011680"/>
          </a:xfrm>
          <a:prstGeom prst="round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100"/>
            </a:pPr>
            <a:r>
              <a:t>Key Points</a:t>
            </a:r>
          </a:p>
          <a:p>
            <a:pPr>
              <a:defRPr sz="1800"/>
            </a:pPr>
            <a:r>
              <a:t>• Reduces deployment failures</a:t>
            </a:r>
          </a:p>
          <a:p>
            <a:pPr>
              <a:defRPr sz="1800"/>
            </a:pPr>
            <a:r>
              <a:t>• Speeds up releases</a:t>
            </a:r>
          </a:p>
          <a:p>
            <a:pPr>
              <a:defRPr sz="1800"/>
            </a:pPr>
            <a:r>
              <a:t>• Improves model quality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Complete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Every ML project follows a continuous lifecycle. Monitoring feeds back into retraining to keep models accurate over 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560320"/>
            <a:ext cx="1530966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Collect</a:t>
            </a:r>
          </a:p>
        </p:txBody>
      </p:sp>
      <p:sp>
        <p:nvSpPr>
          <p:cNvPr id="5" name="Chevron 4"/>
          <p:cNvSpPr/>
          <p:nvPr/>
        </p:nvSpPr>
        <p:spPr>
          <a:xfrm>
            <a:off x="2043030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07038" y="2560320"/>
            <a:ext cx="1530966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Validate</a:t>
            </a:r>
          </a:p>
        </p:txBody>
      </p:sp>
      <p:sp>
        <p:nvSpPr>
          <p:cNvPr id="7" name="Chevron 6"/>
          <p:cNvSpPr/>
          <p:nvPr/>
        </p:nvSpPr>
        <p:spPr>
          <a:xfrm>
            <a:off x="3647149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11157" y="2560320"/>
            <a:ext cx="1530966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Engineer</a:t>
            </a:r>
          </a:p>
        </p:txBody>
      </p:sp>
      <p:sp>
        <p:nvSpPr>
          <p:cNvPr id="9" name="Chevron 8"/>
          <p:cNvSpPr/>
          <p:nvPr/>
        </p:nvSpPr>
        <p:spPr>
          <a:xfrm>
            <a:off x="5251268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15276" y="2560320"/>
            <a:ext cx="1530966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Train</a:t>
            </a:r>
          </a:p>
        </p:txBody>
      </p:sp>
      <p:sp>
        <p:nvSpPr>
          <p:cNvPr id="11" name="Chevron 10"/>
          <p:cNvSpPr/>
          <p:nvPr/>
        </p:nvSpPr>
        <p:spPr>
          <a:xfrm>
            <a:off x="6855387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19395" y="2560320"/>
            <a:ext cx="1530966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Deploy</a:t>
            </a:r>
          </a:p>
        </p:txBody>
      </p:sp>
      <p:sp>
        <p:nvSpPr>
          <p:cNvPr id="13" name="Chevron 12"/>
          <p:cNvSpPr/>
          <p:nvPr/>
        </p:nvSpPr>
        <p:spPr>
          <a:xfrm>
            <a:off x="8459506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23514" y="2560320"/>
            <a:ext cx="1530966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Monitor</a:t>
            </a:r>
          </a:p>
        </p:txBody>
      </p:sp>
      <p:sp>
        <p:nvSpPr>
          <p:cNvPr id="15" name="Chevron 14"/>
          <p:cNvSpPr/>
          <p:nvPr/>
        </p:nvSpPr>
        <p:spPr>
          <a:xfrm>
            <a:off x="10063625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27633" y="2560320"/>
            <a:ext cx="1530966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Retrain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566160"/>
            <a:ext cx="10972800" cy="2011680"/>
          </a:xfrm>
          <a:prstGeom prst="round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100"/>
            </a:pPr>
            <a:r>
              <a:t>Key Points</a:t>
            </a:r>
          </a:p>
          <a:p>
            <a:pPr>
              <a:defRPr sz="1800"/>
            </a:pPr>
            <a:r>
              <a:t>• Continuous improvement</a:t>
            </a:r>
          </a:p>
          <a:p>
            <a:pPr>
              <a:defRPr sz="1800"/>
            </a:pPr>
            <a:r>
              <a:t>• Closed feedback loop</a:t>
            </a:r>
          </a:p>
          <a:p>
            <a:pPr>
              <a:defRPr sz="1800"/>
            </a:pPr>
            <a:r>
              <a:t>• Production-ready workflow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MLflow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MLflow records experiments, parameters, metrics, and artifacts. Teams compare runs and promote the best-performing model through the Model Registry.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560320"/>
            <a:ext cx="2172614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Experiment</a:t>
            </a:r>
          </a:p>
        </p:txBody>
      </p:sp>
      <p:sp>
        <p:nvSpPr>
          <p:cNvPr id="5" name="Chevron 4"/>
          <p:cNvSpPr/>
          <p:nvPr/>
        </p:nvSpPr>
        <p:spPr>
          <a:xfrm>
            <a:off x="2684678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8686" y="2560320"/>
            <a:ext cx="2172614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Metrics</a:t>
            </a:r>
          </a:p>
        </p:txBody>
      </p:sp>
      <p:sp>
        <p:nvSpPr>
          <p:cNvPr id="7" name="Chevron 6"/>
          <p:cNvSpPr/>
          <p:nvPr/>
        </p:nvSpPr>
        <p:spPr>
          <a:xfrm>
            <a:off x="4930444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94452" y="2560320"/>
            <a:ext cx="2172614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Artifacts</a:t>
            </a:r>
          </a:p>
        </p:txBody>
      </p:sp>
      <p:sp>
        <p:nvSpPr>
          <p:cNvPr id="9" name="Chevron 8"/>
          <p:cNvSpPr/>
          <p:nvPr/>
        </p:nvSpPr>
        <p:spPr>
          <a:xfrm>
            <a:off x="7176211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40219" y="2560320"/>
            <a:ext cx="2172614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Registry</a:t>
            </a:r>
          </a:p>
        </p:txBody>
      </p:sp>
      <p:sp>
        <p:nvSpPr>
          <p:cNvPr id="11" name="Chevron 10"/>
          <p:cNvSpPr/>
          <p:nvPr/>
        </p:nvSpPr>
        <p:spPr>
          <a:xfrm>
            <a:off x="9421977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85985" y="2560320"/>
            <a:ext cx="2172614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Deploy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66160"/>
            <a:ext cx="10972800" cy="2011680"/>
          </a:xfrm>
          <a:prstGeom prst="round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100"/>
            </a:pPr>
            <a:r>
              <a:t>Key Points</a:t>
            </a:r>
          </a:p>
          <a:p>
            <a:pPr>
              <a:defRPr sz="1800"/>
            </a:pPr>
            <a:r>
              <a:t>• Track every experiment</a:t>
            </a:r>
          </a:p>
          <a:p>
            <a:pPr>
              <a:defRPr sz="1800"/>
            </a:pPr>
            <a:r>
              <a:t>• Central model registry</a:t>
            </a:r>
          </a:p>
          <a:p>
            <a:pPr>
              <a:defRPr sz="1800"/>
            </a:pPr>
            <a:r>
              <a:t>• Easy model comparison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DVC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DVC versions datasets and trained models alongside Git. This ensures every experiment can be reproduced using the correct data version.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560320"/>
            <a:ext cx="2734056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Code</a:t>
            </a:r>
          </a:p>
        </p:txBody>
      </p:sp>
      <p:sp>
        <p:nvSpPr>
          <p:cNvPr id="5" name="Chevron 4"/>
          <p:cNvSpPr/>
          <p:nvPr/>
        </p:nvSpPr>
        <p:spPr>
          <a:xfrm>
            <a:off x="3246120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10128" y="2560320"/>
            <a:ext cx="2734056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Data</a:t>
            </a:r>
          </a:p>
        </p:txBody>
      </p:sp>
      <p:sp>
        <p:nvSpPr>
          <p:cNvPr id="7" name="Chevron 6"/>
          <p:cNvSpPr/>
          <p:nvPr/>
        </p:nvSpPr>
        <p:spPr>
          <a:xfrm>
            <a:off x="6053327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17336" y="2560320"/>
            <a:ext cx="2734056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Model</a:t>
            </a:r>
          </a:p>
        </p:txBody>
      </p:sp>
      <p:sp>
        <p:nvSpPr>
          <p:cNvPr id="9" name="Chevron 8"/>
          <p:cNvSpPr/>
          <p:nvPr/>
        </p:nvSpPr>
        <p:spPr>
          <a:xfrm>
            <a:off x="8860536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4544" y="2560320"/>
            <a:ext cx="2734056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Remote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566160"/>
            <a:ext cx="10972800" cy="2011680"/>
          </a:xfrm>
          <a:prstGeom prst="round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100"/>
            </a:pPr>
            <a:r>
              <a:t>Key Points</a:t>
            </a:r>
          </a:p>
          <a:p>
            <a:pPr>
              <a:defRPr sz="1800"/>
            </a:pPr>
            <a:r>
              <a:t>• Version large datasets</a:t>
            </a:r>
          </a:p>
          <a:p>
            <a:pPr>
              <a:defRPr sz="1800"/>
            </a:pPr>
            <a:r>
              <a:t>• Supports S3/GDrive</a:t>
            </a:r>
          </a:p>
          <a:p>
            <a:pPr>
              <a:defRPr sz="1800"/>
            </a:pPr>
            <a:r>
              <a:t>• Reproducible experiments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Apache Airflow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Airflow automates ML workflows using Directed Acyclic Graphs (DAGs). It schedules ETL, training, testing, and deployment jobs.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560320"/>
            <a:ext cx="2172614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ETL</a:t>
            </a:r>
          </a:p>
        </p:txBody>
      </p:sp>
      <p:sp>
        <p:nvSpPr>
          <p:cNvPr id="5" name="Chevron 4"/>
          <p:cNvSpPr/>
          <p:nvPr/>
        </p:nvSpPr>
        <p:spPr>
          <a:xfrm>
            <a:off x="2684678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8686" y="2560320"/>
            <a:ext cx="2172614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Features</a:t>
            </a:r>
          </a:p>
        </p:txBody>
      </p:sp>
      <p:sp>
        <p:nvSpPr>
          <p:cNvPr id="7" name="Chevron 6"/>
          <p:cNvSpPr/>
          <p:nvPr/>
        </p:nvSpPr>
        <p:spPr>
          <a:xfrm>
            <a:off x="4930444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94452" y="2560320"/>
            <a:ext cx="2172614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Train</a:t>
            </a:r>
          </a:p>
        </p:txBody>
      </p:sp>
      <p:sp>
        <p:nvSpPr>
          <p:cNvPr id="9" name="Chevron 8"/>
          <p:cNvSpPr/>
          <p:nvPr/>
        </p:nvSpPr>
        <p:spPr>
          <a:xfrm>
            <a:off x="7176211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40219" y="2560320"/>
            <a:ext cx="2172614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Validate</a:t>
            </a:r>
          </a:p>
        </p:txBody>
      </p:sp>
      <p:sp>
        <p:nvSpPr>
          <p:cNvPr id="11" name="Chevron 10"/>
          <p:cNvSpPr/>
          <p:nvPr/>
        </p:nvSpPr>
        <p:spPr>
          <a:xfrm>
            <a:off x="9421977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85985" y="2560320"/>
            <a:ext cx="2172614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Deploy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66160"/>
            <a:ext cx="10972800" cy="2011680"/>
          </a:xfrm>
          <a:prstGeom prst="round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100"/>
            </a:pPr>
            <a:r>
              <a:t>Key Points</a:t>
            </a:r>
          </a:p>
          <a:p>
            <a:pPr>
              <a:defRPr sz="1800"/>
            </a:pPr>
            <a:r>
              <a:t>• Pipeline orchestration</a:t>
            </a:r>
          </a:p>
          <a:p>
            <a:pPr>
              <a:defRPr sz="1800"/>
            </a:pPr>
            <a:r>
              <a:t>• Task scheduling</a:t>
            </a:r>
          </a:p>
          <a:p>
            <a:pPr>
              <a:defRPr sz="1800"/>
            </a:pPr>
            <a:r>
              <a:t>• Dependency management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Docker packages applications and dependencies into portable containers. The same container runs consistently on laptops, servers, and cloud platforms.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560320"/>
            <a:ext cx="2734056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Code</a:t>
            </a:r>
          </a:p>
        </p:txBody>
      </p:sp>
      <p:sp>
        <p:nvSpPr>
          <p:cNvPr id="5" name="Chevron 4"/>
          <p:cNvSpPr/>
          <p:nvPr/>
        </p:nvSpPr>
        <p:spPr>
          <a:xfrm>
            <a:off x="3246120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10128" y="2560320"/>
            <a:ext cx="2734056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Dockerfile</a:t>
            </a:r>
          </a:p>
        </p:txBody>
      </p:sp>
      <p:sp>
        <p:nvSpPr>
          <p:cNvPr id="7" name="Chevron 6"/>
          <p:cNvSpPr/>
          <p:nvPr/>
        </p:nvSpPr>
        <p:spPr>
          <a:xfrm>
            <a:off x="6053327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17336" y="2560320"/>
            <a:ext cx="2734056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Image</a:t>
            </a:r>
          </a:p>
        </p:txBody>
      </p:sp>
      <p:sp>
        <p:nvSpPr>
          <p:cNvPr id="9" name="Chevron 8"/>
          <p:cNvSpPr/>
          <p:nvPr/>
        </p:nvSpPr>
        <p:spPr>
          <a:xfrm>
            <a:off x="8860536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4544" y="2560320"/>
            <a:ext cx="2734056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Container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566160"/>
            <a:ext cx="10972800" cy="2011680"/>
          </a:xfrm>
          <a:prstGeom prst="round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100"/>
            </a:pPr>
            <a:r>
              <a:t>Key Points</a:t>
            </a:r>
          </a:p>
          <a:p>
            <a:pPr>
              <a:defRPr sz="1800"/>
            </a:pPr>
            <a:r>
              <a:t>• Portable deployments</a:t>
            </a:r>
          </a:p>
          <a:p>
            <a:pPr>
              <a:defRPr sz="1800"/>
            </a:pPr>
            <a:r>
              <a:t>• Environment consistency</a:t>
            </a:r>
          </a:p>
          <a:p>
            <a:pPr>
              <a:defRPr sz="1800"/>
            </a:pPr>
            <a:r>
              <a:t>• Easy scaling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FastAPI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FastAPI exposes trained models as REST APIs. It provides excellent performance, automatic documentation, and asynchronous request handling.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560320"/>
            <a:ext cx="2734056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Client</a:t>
            </a:r>
          </a:p>
        </p:txBody>
      </p:sp>
      <p:sp>
        <p:nvSpPr>
          <p:cNvPr id="5" name="Chevron 4"/>
          <p:cNvSpPr/>
          <p:nvPr/>
        </p:nvSpPr>
        <p:spPr>
          <a:xfrm>
            <a:off x="3246120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10128" y="2560320"/>
            <a:ext cx="2734056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REST API</a:t>
            </a:r>
          </a:p>
        </p:txBody>
      </p:sp>
      <p:sp>
        <p:nvSpPr>
          <p:cNvPr id="7" name="Chevron 6"/>
          <p:cNvSpPr/>
          <p:nvPr/>
        </p:nvSpPr>
        <p:spPr>
          <a:xfrm>
            <a:off x="6053327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17336" y="2560320"/>
            <a:ext cx="2734056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Prediction</a:t>
            </a:r>
          </a:p>
        </p:txBody>
      </p:sp>
      <p:sp>
        <p:nvSpPr>
          <p:cNvPr id="9" name="Chevron 8"/>
          <p:cNvSpPr/>
          <p:nvPr/>
        </p:nvSpPr>
        <p:spPr>
          <a:xfrm>
            <a:off x="8860536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4544" y="2560320"/>
            <a:ext cx="2734056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Response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566160"/>
            <a:ext cx="10972800" cy="2011680"/>
          </a:xfrm>
          <a:prstGeom prst="round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100"/>
            </a:pPr>
            <a:r>
              <a:t>Key Points</a:t>
            </a:r>
          </a:p>
          <a:p>
            <a:pPr>
              <a:defRPr sz="1800"/>
            </a:pPr>
            <a:r>
              <a:t>• High performance</a:t>
            </a:r>
          </a:p>
          <a:p>
            <a:pPr>
              <a:defRPr sz="1800"/>
            </a:pPr>
            <a:r>
              <a:t>• OpenAPI docs</a:t>
            </a:r>
          </a:p>
          <a:p>
            <a:pPr>
              <a:defRPr sz="1800"/>
            </a:pPr>
            <a:r>
              <a:t>• Simple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AWS provides scalable infrastructure for machine learning. S3 stores data, EC2 runs applications, SageMaker trains models, and CloudWatch monitors production.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560320"/>
            <a:ext cx="2172614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S3</a:t>
            </a:r>
          </a:p>
        </p:txBody>
      </p:sp>
      <p:sp>
        <p:nvSpPr>
          <p:cNvPr id="5" name="Chevron 4"/>
          <p:cNvSpPr/>
          <p:nvPr/>
        </p:nvSpPr>
        <p:spPr>
          <a:xfrm>
            <a:off x="2684678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8686" y="2560320"/>
            <a:ext cx="2172614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EC2</a:t>
            </a:r>
          </a:p>
        </p:txBody>
      </p:sp>
      <p:sp>
        <p:nvSpPr>
          <p:cNvPr id="7" name="Chevron 6"/>
          <p:cNvSpPr/>
          <p:nvPr/>
        </p:nvSpPr>
        <p:spPr>
          <a:xfrm>
            <a:off x="4930444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94452" y="2560320"/>
            <a:ext cx="2172614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SageMaker</a:t>
            </a:r>
          </a:p>
        </p:txBody>
      </p:sp>
      <p:sp>
        <p:nvSpPr>
          <p:cNvPr id="9" name="Chevron 8"/>
          <p:cNvSpPr/>
          <p:nvPr/>
        </p:nvSpPr>
        <p:spPr>
          <a:xfrm>
            <a:off x="7176211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40219" y="2560320"/>
            <a:ext cx="2172614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FastAPI</a:t>
            </a:r>
          </a:p>
        </p:txBody>
      </p:sp>
      <p:sp>
        <p:nvSpPr>
          <p:cNvPr id="11" name="Chevron 10"/>
          <p:cNvSpPr/>
          <p:nvPr/>
        </p:nvSpPr>
        <p:spPr>
          <a:xfrm>
            <a:off x="9421977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85985" y="2560320"/>
            <a:ext cx="2172614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CloudWatch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66160"/>
            <a:ext cx="10972800" cy="2011680"/>
          </a:xfrm>
          <a:prstGeom prst="round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100"/>
            </a:pPr>
            <a:r>
              <a:t>Key Points</a:t>
            </a:r>
          </a:p>
          <a:p>
            <a:pPr>
              <a:defRPr sz="1800"/>
            </a:pPr>
            <a:r>
              <a:t>• Scalable cloud</a:t>
            </a:r>
          </a:p>
          <a:p>
            <a:pPr>
              <a:defRPr sz="1800"/>
            </a:pPr>
            <a:r>
              <a:t>• Managed ML</a:t>
            </a:r>
          </a:p>
          <a:p>
            <a:pPr>
              <a:defRPr sz="1800"/>
            </a:pPr>
            <a:r>
              <a:t>• Central monitoring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CI/CD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CI/CD automatically tests code, builds Docker images, and deploys approved changes to production.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560320"/>
            <a:ext cx="2172614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Commit</a:t>
            </a:r>
          </a:p>
        </p:txBody>
      </p:sp>
      <p:sp>
        <p:nvSpPr>
          <p:cNvPr id="5" name="Chevron 4"/>
          <p:cNvSpPr/>
          <p:nvPr/>
        </p:nvSpPr>
        <p:spPr>
          <a:xfrm>
            <a:off x="2684678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8686" y="2560320"/>
            <a:ext cx="2172614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Test</a:t>
            </a:r>
          </a:p>
        </p:txBody>
      </p:sp>
      <p:sp>
        <p:nvSpPr>
          <p:cNvPr id="7" name="Chevron 6"/>
          <p:cNvSpPr/>
          <p:nvPr/>
        </p:nvSpPr>
        <p:spPr>
          <a:xfrm>
            <a:off x="4930444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94452" y="2560320"/>
            <a:ext cx="2172614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Build</a:t>
            </a:r>
          </a:p>
        </p:txBody>
      </p:sp>
      <p:sp>
        <p:nvSpPr>
          <p:cNvPr id="9" name="Chevron 8"/>
          <p:cNvSpPr/>
          <p:nvPr/>
        </p:nvSpPr>
        <p:spPr>
          <a:xfrm>
            <a:off x="7176211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40219" y="2560320"/>
            <a:ext cx="2172614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Deploy</a:t>
            </a:r>
          </a:p>
        </p:txBody>
      </p:sp>
      <p:sp>
        <p:nvSpPr>
          <p:cNvPr id="11" name="Chevron 10"/>
          <p:cNvSpPr/>
          <p:nvPr/>
        </p:nvSpPr>
        <p:spPr>
          <a:xfrm>
            <a:off x="9421977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85985" y="2560320"/>
            <a:ext cx="2172614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Monitor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66160"/>
            <a:ext cx="10972800" cy="2011680"/>
          </a:xfrm>
          <a:prstGeom prst="round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100"/>
            </a:pPr>
            <a:r>
              <a:t>Key Points</a:t>
            </a:r>
          </a:p>
          <a:p>
            <a:pPr>
              <a:defRPr sz="1800"/>
            </a:pPr>
            <a:r>
              <a:t>• Faster releases</a:t>
            </a:r>
          </a:p>
          <a:p>
            <a:pPr>
              <a:defRPr sz="1800"/>
            </a:pPr>
            <a:r>
              <a:t>• Automated testing</a:t>
            </a:r>
          </a:p>
          <a:p>
            <a:pPr>
              <a:defRPr sz="1800"/>
            </a:pPr>
            <a:r>
              <a:t>• Reliable deployments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Reference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A modern MLOps platform integrates Git, DVC, MLflow, Airflow, Docker, FastAPI, and AWS into a single automated pipeline.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560320"/>
            <a:ext cx="1530966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Git</a:t>
            </a:r>
          </a:p>
        </p:txBody>
      </p:sp>
      <p:sp>
        <p:nvSpPr>
          <p:cNvPr id="5" name="Chevron 4"/>
          <p:cNvSpPr/>
          <p:nvPr/>
        </p:nvSpPr>
        <p:spPr>
          <a:xfrm>
            <a:off x="2043030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07038" y="2560320"/>
            <a:ext cx="1530966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DVC</a:t>
            </a:r>
          </a:p>
        </p:txBody>
      </p:sp>
      <p:sp>
        <p:nvSpPr>
          <p:cNvPr id="7" name="Chevron 6"/>
          <p:cNvSpPr/>
          <p:nvPr/>
        </p:nvSpPr>
        <p:spPr>
          <a:xfrm>
            <a:off x="3647149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11157" y="2560320"/>
            <a:ext cx="1530966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MLflow</a:t>
            </a:r>
          </a:p>
        </p:txBody>
      </p:sp>
      <p:sp>
        <p:nvSpPr>
          <p:cNvPr id="9" name="Chevron 8"/>
          <p:cNvSpPr/>
          <p:nvPr/>
        </p:nvSpPr>
        <p:spPr>
          <a:xfrm>
            <a:off x="5251268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15276" y="2560320"/>
            <a:ext cx="1530966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Airflow</a:t>
            </a:r>
          </a:p>
        </p:txBody>
      </p:sp>
      <p:sp>
        <p:nvSpPr>
          <p:cNvPr id="11" name="Chevron 10"/>
          <p:cNvSpPr/>
          <p:nvPr/>
        </p:nvSpPr>
        <p:spPr>
          <a:xfrm>
            <a:off x="6855387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19395" y="2560320"/>
            <a:ext cx="1530966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Docker</a:t>
            </a:r>
          </a:p>
        </p:txBody>
      </p:sp>
      <p:sp>
        <p:nvSpPr>
          <p:cNvPr id="13" name="Chevron 12"/>
          <p:cNvSpPr/>
          <p:nvPr/>
        </p:nvSpPr>
        <p:spPr>
          <a:xfrm>
            <a:off x="8459506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23514" y="2560320"/>
            <a:ext cx="1530966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FastAPI</a:t>
            </a:r>
          </a:p>
        </p:txBody>
      </p:sp>
      <p:sp>
        <p:nvSpPr>
          <p:cNvPr id="15" name="Chevron 14"/>
          <p:cNvSpPr/>
          <p:nvPr/>
        </p:nvSpPr>
        <p:spPr>
          <a:xfrm>
            <a:off x="10063625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27633" y="2560320"/>
            <a:ext cx="1530966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566160"/>
            <a:ext cx="10972800" cy="2011680"/>
          </a:xfrm>
          <a:prstGeom prst="round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100"/>
            </a:pPr>
            <a:r>
              <a:t>Key Points</a:t>
            </a:r>
          </a:p>
          <a:p>
            <a:pPr>
              <a:defRPr sz="1800"/>
            </a:pPr>
            <a:r>
              <a:t>• End-to-end automation</a:t>
            </a:r>
          </a:p>
          <a:p>
            <a:pPr>
              <a:defRPr sz="1800"/>
            </a:pPr>
            <a:r>
              <a:t>• Minimal manual effort</a:t>
            </a:r>
          </a:p>
          <a:p>
            <a:pPr>
              <a:defRPr sz="1800"/>
            </a:pPr>
            <a:r>
              <a:t>• Enterprise architecture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Monitor latency, accuracy, resource usage, and data drift. When performance drops, automatically trigger retraining.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560320"/>
            <a:ext cx="2734056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Metrics</a:t>
            </a:r>
          </a:p>
        </p:txBody>
      </p:sp>
      <p:sp>
        <p:nvSpPr>
          <p:cNvPr id="5" name="Chevron 4"/>
          <p:cNvSpPr/>
          <p:nvPr/>
        </p:nvSpPr>
        <p:spPr>
          <a:xfrm>
            <a:off x="3246120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10128" y="2560320"/>
            <a:ext cx="2734056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Alerts</a:t>
            </a:r>
          </a:p>
        </p:txBody>
      </p:sp>
      <p:sp>
        <p:nvSpPr>
          <p:cNvPr id="7" name="Chevron 6"/>
          <p:cNvSpPr/>
          <p:nvPr/>
        </p:nvSpPr>
        <p:spPr>
          <a:xfrm>
            <a:off x="6053327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17336" y="2560320"/>
            <a:ext cx="2734056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Drift</a:t>
            </a:r>
          </a:p>
        </p:txBody>
      </p:sp>
      <p:sp>
        <p:nvSpPr>
          <p:cNvPr id="9" name="Chevron 8"/>
          <p:cNvSpPr/>
          <p:nvPr/>
        </p:nvSpPr>
        <p:spPr>
          <a:xfrm>
            <a:off x="8860536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4544" y="2560320"/>
            <a:ext cx="2734056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Retrain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566160"/>
            <a:ext cx="10972800" cy="2011680"/>
          </a:xfrm>
          <a:prstGeom prst="round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100"/>
            </a:pPr>
            <a:r>
              <a:t>Key Points</a:t>
            </a:r>
          </a:p>
          <a:p>
            <a:pPr>
              <a:defRPr sz="1800"/>
            </a:pPr>
            <a:r>
              <a:t>• Detect drift early</a:t>
            </a:r>
          </a:p>
          <a:p>
            <a:pPr>
              <a:defRPr sz="1800"/>
            </a:pPr>
            <a:r>
              <a:t>• Maintain accuracy</a:t>
            </a:r>
          </a:p>
          <a:p>
            <a:pPr>
              <a:defRPr sz="1800"/>
            </a:pPr>
            <a:r>
              <a:t>• Automated retraining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Customer Churn Prediction: ingest data, version it with DVC, train models tracked by MLflow, orchestrate with Airflow, deploy with FastAPI in Docker on AWS.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560320"/>
            <a:ext cx="2172614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Data</a:t>
            </a:r>
          </a:p>
        </p:txBody>
      </p:sp>
      <p:sp>
        <p:nvSpPr>
          <p:cNvPr id="5" name="Chevron 4"/>
          <p:cNvSpPr/>
          <p:nvPr/>
        </p:nvSpPr>
        <p:spPr>
          <a:xfrm>
            <a:off x="2684678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8686" y="2560320"/>
            <a:ext cx="2172614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DVC</a:t>
            </a:r>
          </a:p>
        </p:txBody>
      </p:sp>
      <p:sp>
        <p:nvSpPr>
          <p:cNvPr id="7" name="Chevron 6"/>
          <p:cNvSpPr/>
          <p:nvPr/>
        </p:nvSpPr>
        <p:spPr>
          <a:xfrm>
            <a:off x="4930444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94452" y="2560320"/>
            <a:ext cx="2172614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MLflow</a:t>
            </a:r>
          </a:p>
        </p:txBody>
      </p:sp>
      <p:sp>
        <p:nvSpPr>
          <p:cNvPr id="9" name="Chevron 8"/>
          <p:cNvSpPr/>
          <p:nvPr/>
        </p:nvSpPr>
        <p:spPr>
          <a:xfrm>
            <a:off x="7176211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40219" y="2560320"/>
            <a:ext cx="2172614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API</a:t>
            </a:r>
          </a:p>
        </p:txBody>
      </p:sp>
      <p:sp>
        <p:nvSpPr>
          <p:cNvPr id="11" name="Chevron 10"/>
          <p:cNvSpPr/>
          <p:nvPr/>
        </p:nvSpPr>
        <p:spPr>
          <a:xfrm>
            <a:off x="9421977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85985" y="2560320"/>
            <a:ext cx="2172614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66160"/>
            <a:ext cx="10972800" cy="2011680"/>
          </a:xfrm>
          <a:prstGeom prst="round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100"/>
            </a:pPr>
            <a:r>
              <a:t>Key Points</a:t>
            </a:r>
          </a:p>
          <a:p>
            <a:pPr>
              <a:defRPr sz="1800"/>
            </a:pPr>
            <a:r>
              <a:t>• Real-world workflow</a:t>
            </a:r>
          </a:p>
          <a:p>
            <a:pPr>
              <a:defRPr sz="1800"/>
            </a:pPr>
            <a:r>
              <a:t>• Production deployment</a:t>
            </a:r>
          </a:p>
          <a:p>
            <a:pPr>
              <a:defRPr sz="1800"/>
            </a:pPr>
            <a:r>
              <a:t>• Enterprise practices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/>
            </a:pPr>
            <a:r>
              <a:t>MLOps transforms ML experiments into reliable production systems by combining automation, monitoring, collaboration, and scalable deployment.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560320"/>
            <a:ext cx="2734056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Reliable</a:t>
            </a:r>
          </a:p>
        </p:txBody>
      </p:sp>
      <p:sp>
        <p:nvSpPr>
          <p:cNvPr id="5" name="Chevron 4"/>
          <p:cNvSpPr/>
          <p:nvPr/>
        </p:nvSpPr>
        <p:spPr>
          <a:xfrm>
            <a:off x="3246120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10128" y="2560320"/>
            <a:ext cx="2734056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Scalable</a:t>
            </a:r>
          </a:p>
        </p:txBody>
      </p:sp>
      <p:sp>
        <p:nvSpPr>
          <p:cNvPr id="7" name="Chevron 6"/>
          <p:cNvSpPr/>
          <p:nvPr/>
        </p:nvSpPr>
        <p:spPr>
          <a:xfrm>
            <a:off x="6053327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17336" y="2560320"/>
            <a:ext cx="2734056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Automated</a:t>
            </a:r>
          </a:p>
        </p:txBody>
      </p:sp>
      <p:sp>
        <p:nvSpPr>
          <p:cNvPr id="9" name="Chevron 8"/>
          <p:cNvSpPr/>
          <p:nvPr/>
        </p:nvSpPr>
        <p:spPr>
          <a:xfrm>
            <a:off x="8860536" y="2633472"/>
            <a:ext cx="64008" cy="292608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4544" y="2560320"/>
            <a:ext cx="2734056" cy="438912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Collaborative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566160"/>
            <a:ext cx="10972800" cy="2011680"/>
          </a:xfrm>
          <a:prstGeom prst="round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100"/>
            </a:pPr>
            <a:r>
              <a:t>Key Points</a:t>
            </a:r>
          </a:p>
          <a:p>
            <a:pPr>
              <a:defRPr sz="1800"/>
            </a:pPr>
            <a:r>
              <a:t>• Reproducible ML</a:t>
            </a:r>
          </a:p>
          <a:p>
            <a:pPr>
              <a:defRPr sz="1800"/>
            </a:pPr>
            <a:r>
              <a:t>• Faster delivery</a:t>
            </a:r>
          </a:p>
          <a:p>
            <a:pPr>
              <a:defRPr sz="1800"/>
            </a:pPr>
            <a:r>
              <a:t>• Better business impact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